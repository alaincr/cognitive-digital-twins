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9B6D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30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Conformal coverage (alpha = 0.10)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Achieved</c:v>
                </c:pt>
              </c:strCache>
            </c:strRef>
          </c:tx>
          <c:spPr>
            <a:solidFill>
              <a:srgbClr val="3A4A9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30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Conformal coverage (alpha = 0.10)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0.917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2630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A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85"/>
        </c:scaling>
        <c:delete val="0"/>
        <c:axPos val="l"/>
        <c:majorGridlines>
          <c:spPr>
            <a:ln w="6350" cap="flat">
              <a:solidFill>
                <a:srgbClr val="E3E8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A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25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Position: not a RAG variant. A substrate where the log, the graph, and the model swarm are one design. Three threads to track: architecture, the continual-knowledge loops, the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to remember: promote the byproduct, then compute by navigating it recursively and growing it monotonically.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bottom-up: L3 supplies recursion/time/provenance; L2 supplies emergent control flow and deterministic replay; L1 supplies adaptive compute with persistent intermediate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conceptual compression of the whole emergence layer. Caveat honestly if asked: the rows share machinery but differ in error semantics — which is why promotion gates differ by stakes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claims: stance is computed, not written; the grounded extension is the monotone-friendly choice; immutability turns belief change into queryable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swarm is regime B-half of a ladder: heuristics, classifiers, small judges, anchor. Each rung abstains upward. The invariants are what make 'a swarm of small LLMs' an engineering object instead of a vibe.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Cohort retraction is the differentiating property — most pipelines cannot answer 'what did the bad component contaminate?'. Here it is a provenance query with a recompute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is the calibration story: coverage 0.917 against a 0.90 target, temperature fit recovering a planted T*. The right column is the engineering-culture story: tests where execution was possible, honest flags where it was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RLM precedent: ~1,000 trajectories yielded +28% in the paper — triggering classifications distill more easily than trajectories. A distilled child keeps its family: it never adds an independent panel vote.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scaling axes: horizontal (monotone core distributes by theorem) and economic (decision cost compiles downward). The single-writer boundary is not a bottleneck at knowledge-work event rates — it is the correctness perimeter.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Athens precedent: DataScript client + Fluree ledger shipped in production. Valid-time remains the one gap no engine closes for free — legal temporality is modeled in data (ELI versioning) regardless.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Selection logic: each scenario leans on a property the substrate makes structural — verifiable provenance, belief revision, threshold-reification, distillation, or time travel. RAG answers questions; this maintains 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buys credibility. Each limit has a named mitigation direction and several are partially implemented (gates, quarantine, recalibration triggers).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inversion of risk: the architecture is de-risked by construction and tests; what remains is calibration against real data, which the first live judge delivers cheaply.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contrast: question-answering versus position-maintenance. Invite the deep-dive: every box on every slide has a spec, code, or test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BRIEFING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Mnemosyne — a self-improving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substrate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inference over an event-sourced, immutable Datalog store, maintained by a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conformally-gated swarm of small models. Architecture · continual knowledge · scaling economics.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6405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overview · 2026 · specs, code, and self-tests referenced throughout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thesis: promote the byproduct to the substrate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designs perform the same inversion — Mnemosyne is that inversion written as a stack.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529840" cy="2743200"/>
          </a:xfrm>
          <a:prstGeom prst="roundRect">
            <a:avLst>
              <a:gd name="adj" fmla="val 2892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316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380744"/>
            <a:ext cx="1569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 is the agent (ActiveGraph)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4088" y="1947672"/>
            <a:ext cx="21275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append-only event log stops being audit exhaust and becomes the source of truth; the working graph is a deterministic fold of it. Replay, fork, and lineage fall out for free.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07080" y="1234440"/>
            <a:ext cx="2529840" cy="2743200"/>
          </a:xfrm>
          <a:prstGeom prst="roundRect">
            <a:avLst>
              <a:gd name="adj" fmla="val 2892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89960" y="1417320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260" y="153162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84320" y="1380744"/>
            <a:ext cx="1569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an environment (RLM)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08248" y="1947672"/>
            <a:ext cx="21275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stops being tokens to ingest and becomes an external object the model probes with code and recursive sub-calls — the structural answer to context rot.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11240" y="1234440"/>
            <a:ext cx="2529840" cy="2743200"/>
          </a:xfrm>
          <a:prstGeom prst="roundRect">
            <a:avLst>
              <a:gd name="adj" fmla="val 2892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4120" y="1417320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420" y="153162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88480" y="1380744"/>
            <a:ext cx="1569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is a value (Datomic family)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12408" y="1947672"/>
            <a:ext cx="21275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stops being a mutable place and becomes immutable facts accreting in time — recursion, time travel, and provenance are native operations, not features.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02920" y="42062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= recursive navigation + monotone accretion beside one immutable substrate.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each supplying what the one above cannot earn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1060704"/>
          </a:xfrm>
          <a:prstGeom prst="roundRect">
            <a:avLst>
              <a:gd name="adj" fmla="val 6034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44752"/>
            <a:ext cx="548640" cy="548640"/>
          </a:xfrm>
          <a:prstGeom prst="ellipse">
            <a:avLst/>
          </a:prstGeom>
          <a:solidFill>
            <a:srgbClr val="6B46C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44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29844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RECURSIVE INFERENCE (RLM-style)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63040" y="161848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model sees metadata; decomposition = Datalog queries over the graph; sub-results persist as facts (no discarded work).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395728"/>
            <a:ext cx="8138160" cy="1060704"/>
          </a:xfrm>
          <a:prstGeom prst="roundRect">
            <a:avLst>
              <a:gd name="adj" fmla="val 6034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51760"/>
            <a:ext cx="548640" cy="54864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505456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EVENT-SOURCED RUNTIME (ActiveGraph-style)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63040" y="2825496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Behaviors react to graph shapes; reactive fixpoint = lint loop = semi-naive evaluation; content-addressed cache gives deterministic replay; no orchestrator.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602736"/>
            <a:ext cx="8138160" cy="1060704"/>
          </a:xfrm>
          <a:prstGeom prst="roundRect">
            <a:avLst>
              <a:gd name="adj" fmla="val 6034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858768"/>
            <a:ext cx="548640" cy="548640"/>
          </a:xfrm>
          <a:prstGeom prst="ellipse">
            <a:avLst/>
          </a:prstGeom>
          <a:solidFill>
            <a:srgbClr val="2F855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858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712464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IMMUTABLE DATALOG STORE (datom family)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63040" y="4032504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facts; recursion with guaranteed termination; fork = with, replay = as-of, lineage = reified transactions. DataScript working store, Fluree ledger target.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pattern under every mechanism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 a signal along the graph; when it crosses a threshold, reify a first-class, provenanced node.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56616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accumulated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Reified node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factoids inside prose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 propositions (Dense-X)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 — refine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coreference cues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canonical entity (retractable sameAs)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 — intern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entity-tuple co-occurrence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 entity (FCA concept)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— generalize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similarity of neighbors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node (RAPTOR, online)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— generalize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/ oppose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with stance (argumentation fixpoint)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— judge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traversal frequency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trail (desire path)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— navigate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20624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trigger machinery, same provenance, same CALM split — six instances, one implementation discipline.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Continual knowledge: beliefs as computed objects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is not a sentence — it is a stance over typed evidence, recomputed when evidence changes.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581912"/>
            <a:ext cx="566928" cy="566928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172364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258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Discourse-typed edges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280160" y="167335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bears on claims via a closed vocabulary — supports / opposes / refines — asserted as retractable, provenanced facts (never merges, never rewrites).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880360"/>
            <a:ext cx="566928" cy="566928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" y="302209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6243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= grounded extension = least fixpoint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280160" y="2971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Bipolar argumentation over the evidence graph; the skeptical stance is fixpoint-computable and incrementally maintainable. Probability decorates; structure decides.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" y="4178808"/>
            <a:ext cx="566928" cy="566928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432054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9227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revision with intellectual history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280160" y="427024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Bitemporal record: diff a stance across time, replay what was believed before a correction — the contradiction that changed your mind is never erased.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B½ — cheap intelligence under contract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swarm of 4–8B local judges, safe because four invariants are enforced by construction.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48590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33502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 — Judgments are facts, never rewrites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4088" y="1901952"/>
            <a:ext cx="35295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typed labels appended to the log; conflicts coexist as evidence; oscillation is structurally impossible; emission is CALM-monotone.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18872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48590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33502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 — Closed vocabularies, constrained decoding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910328" y="1901952"/>
            <a:ext cx="35295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judgment types, each a small enum (vLLM guided JSON). Tiny attack surface; plays to small-model strength: classification, not generation.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31546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5800" y="3337560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45186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30098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— Confidence measured, never self-reported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04088" y="3867912"/>
            <a:ext cx="35295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Label-token logprobs, temperature-scaled, split-conformal gated: singleton prediction set or abstain-and-escalate. Coverage is a dial with a recalibration cadence.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09160" y="31546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92040" y="3337560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45186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30098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 — Full provenance envelope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910328" y="3867912"/>
            <a:ext cx="35295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identity to the weights hash, prompt version, calibration version, content-address of the exact context — every verdict is auditable and replayable.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immune system: panels, drift, retraction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746504" cy="2606040"/>
          </a:xfrm>
          <a:prstGeom prst="roundRect">
            <a:avLst>
              <a:gd name="adj" fmla="val 4188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444752"/>
            <a:ext cx="420624" cy="420624"/>
          </a:xfrm>
          <a:prstGeom prst="ellipse">
            <a:avLst/>
          </a:prstGeom>
          <a:solidFill>
            <a:srgbClr val="3A4A9F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7512" y="19568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panels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512" y="2523744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judgments need k-of-n agreement across distinct model families; same-family replicas do not decorrelate. Dissent escalates to the anchor.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6000" y="23545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7A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33472" y="1280160"/>
            <a:ext cx="1746504" cy="2606040"/>
          </a:xfrm>
          <a:prstGeom prst="roundRect">
            <a:avLst>
              <a:gd name="adj" fmla="val 4188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98064" y="1444752"/>
            <a:ext cx="420624" cy="420624"/>
          </a:xfrm>
          <a:prstGeom prst="ellipse">
            <a:avLst/>
          </a:prstGeom>
          <a:solidFill>
            <a:srgbClr val="3A4A9F"/>
          </a:solidFill>
          <a:ln/>
        </p:spPr>
      </p:sp>
      <p:sp>
        <p:nvSpPr>
          <p:cNvPr id="12" name="Text 10"/>
          <p:cNvSpPr/>
          <p:nvPr/>
        </p:nvSpPr>
        <p:spPr>
          <a:xfrm>
            <a:off x="2798064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98064" y="19568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sampling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98064" y="2523744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model re-judges 1–5% of accepted verdicts continuously; agreement facts accumulate per (type x judge-version).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16552" y="23545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7A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64024" y="1280160"/>
            <a:ext cx="1746504" cy="2606040"/>
          </a:xfrm>
          <a:prstGeom prst="roundRect">
            <a:avLst>
              <a:gd name="adj" fmla="val 4188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28616" y="1444752"/>
            <a:ext cx="420624" cy="420624"/>
          </a:xfrm>
          <a:prstGeom prst="ellipse">
            <a:avLst/>
          </a:prstGeom>
          <a:solidFill>
            <a:srgbClr val="3A4A9F"/>
          </a:solidFill>
          <a:ln/>
        </p:spPr>
      </p:sp>
      <p:sp>
        <p:nvSpPr>
          <p:cNvPr id="18" name="Text 16"/>
          <p:cNvSpPr/>
          <p:nvPr/>
        </p:nvSpPr>
        <p:spPr>
          <a:xfrm>
            <a:off x="4928616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28616" y="19568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28616" y="2523744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over threshold benches a judge-version — a reversible event; its candidates stop being promotable while review opens.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47104" y="23545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7A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894576" y="1280160"/>
            <a:ext cx="1746504" cy="2606040"/>
          </a:xfrm>
          <a:prstGeom prst="roundRect">
            <a:avLst>
              <a:gd name="adj" fmla="val 4188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59168" y="1444752"/>
            <a:ext cx="420624" cy="420624"/>
          </a:xfrm>
          <a:prstGeom prst="ellipse">
            <a:avLst/>
          </a:prstGeom>
          <a:solidFill>
            <a:srgbClr val="3A4A9F"/>
          </a:solidFill>
          <a:ln/>
        </p:spPr>
      </p:sp>
      <p:sp>
        <p:nvSpPr>
          <p:cNvPr id="24" name="Text 22"/>
          <p:cNvSpPr/>
          <p:nvPr/>
        </p:nvSpPr>
        <p:spPr>
          <a:xfrm>
            <a:off x="7059168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059168" y="19568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retraction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059168" y="2523744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promoted fact carries prov-from-judgment: a biased judge's entire output, plus everything derived from it, is one taint-closure query — retracted, never deleted.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411480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'We ran a biased judge for three weeks' becomes a query, not a catastrophe.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Verified, not vibes: what the self-tests certify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executable in the build environment runs under tests; the Clojure substrate is hand-checked and flagged as such.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371600"/>
          <a:ext cx="3108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88620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3886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T* recovery:  </a:t>
            </a:r>
            <a:pPr indent="0" marL="0">
              <a:buNone/>
            </a:pPr>
            <a:r>
              <a:rPr lang="en-US" sz="12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2.009 fitted vs 2.000 planted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977640" y="1325880"/>
            <a:ext cx="4663440" cy="1024128"/>
          </a:xfrm>
          <a:prstGeom prst="roundRect">
            <a:avLst>
              <a:gd name="adj" fmla="val 7143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178808" y="1472184"/>
            <a:ext cx="4261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statistics in the gate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178808" y="1892808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 exact (stdlib binomial tails) validated against known values; paired-report counts unit-tested.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77640" y="2551176"/>
            <a:ext cx="4663440" cy="1024128"/>
          </a:xfrm>
          <a:prstGeom prst="roundRect">
            <a:avLst>
              <a:gd name="adj" fmla="val 7143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178808" y="2697480"/>
            <a:ext cx="4261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envelope tested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178808" y="3118104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Fence-escape injection neutralized; deterministic-yet-randomized label order verified; UTF-8 round-trips through the ops tail.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977640" y="3776472"/>
            <a:ext cx="4663440" cy="1024128"/>
          </a:xfrm>
          <a:prstGeom prst="roundRect">
            <a:avLst>
              <a:gd name="adj" fmla="val 7143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178808" y="3922776"/>
            <a:ext cx="4261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bugs caught by review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178808" y="4343400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Ordered-subjects loss in cardinality-many sets; Python/Clojure type-name boundary; both fixed at the seam, documented.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Distillation gravity: judgment compiles downward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reasoning becomes judge weights, judge behavior becomes classifiers — under anti-collapse rails.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746504" cy="2606040"/>
          </a:xfrm>
          <a:prstGeom prst="roundRect">
            <a:avLst>
              <a:gd name="adj" fmla="val 4188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444752"/>
            <a:ext cx="420624" cy="420624"/>
          </a:xfrm>
          <a:prstGeom prst="ellipse">
            <a:avLst/>
          </a:prstGeom>
          <a:solidFill>
            <a:srgbClr val="3A4A9F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7512" y="19568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Provenance-gated dataset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7512" y="2523744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labels whose chain reaches anchor or human; equal-tier conflicts dropped, never averaged. Swarm-only outputs cannot enter.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23545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7A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33472" y="1280160"/>
            <a:ext cx="1746504" cy="2606040"/>
          </a:xfrm>
          <a:prstGeom prst="roundRect">
            <a:avLst>
              <a:gd name="adj" fmla="val 4188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98064" y="1444752"/>
            <a:ext cx="420624" cy="420624"/>
          </a:xfrm>
          <a:prstGeom prst="ellipse">
            <a:avLst/>
          </a:prstGeom>
          <a:solidFill>
            <a:srgbClr val="3A4A9F"/>
          </a:solidFill>
          <a:ln/>
        </p:spPr>
      </p:sp>
      <p:sp>
        <p:nvSpPr>
          <p:cNvPr id="13" name="Text 11"/>
          <p:cNvSpPr/>
          <p:nvPr/>
        </p:nvSpPr>
        <p:spPr>
          <a:xfrm>
            <a:off x="2798064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798064" y="19568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Hash-frozen audit split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98064" y="2523744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= deterministic function of the context hash: the audit set freezes itself; train/audit never exchange members over time.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16552" y="23545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7A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64024" y="1280160"/>
            <a:ext cx="1746504" cy="2606040"/>
          </a:xfrm>
          <a:prstGeom prst="roundRect">
            <a:avLst>
              <a:gd name="adj" fmla="val 4188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28616" y="1444752"/>
            <a:ext cx="420624" cy="420624"/>
          </a:xfrm>
          <a:prstGeom prst="ellipse">
            <a:avLst/>
          </a:prstGeom>
          <a:solidFill>
            <a:srgbClr val="3A4A9F"/>
          </a:solidFill>
          <a:ln/>
        </p:spPr>
      </p:sp>
      <p:sp>
        <p:nvSpPr>
          <p:cNvPr id="19" name="Text 17"/>
          <p:cNvSpPr/>
          <p:nvPr/>
        </p:nvSpPr>
        <p:spPr>
          <a:xfrm>
            <a:off x="4928616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28616" y="19568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on one 3090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28616" y="2523744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target imported from the deployed scorer — the model trains on the exact conditional production will score.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47104" y="23545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7A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894576" y="1280160"/>
            <a:ext cx="1746504" cy="2606040"/>
          </a:xfrm>
          <a:prstGeom prst="roundRect">
            <a:avLst>
              <a:gd name="adj" fmla="val 4188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59168" y="1444752"/>
            <a:ext cx="420624" cy="420624"/>
          </a:xfrm>
          <a:prstGeom prst="ellipse">
            <a:avLst/>
          </a:prstGeom>
          <a:solidFill>
            <a:srgbClr val="3A4A9F"/>
          </a:solidFill>
          <a:ln/>
        </p:spPr>
      </p:sp>
      <p:sp>
        <p:nvSpPr>
          <p:cNvPr id="25" name="Text 23"/>
          <p:cNvSpPr/>
          <p:nvPr/>
        </p:nvSpPr>
        <p:spPr>
          <a:xfrm>
            <a:off x="7059168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059168" y="19568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McNemar-gated promotion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059168" y="2523744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gain must be significant on discordant pairs AND live anchor agreement must hold; EXTEND-SHADOW is a first-class outcome.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11480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traces → judges → classifiers → rules: the system continuously re-prices its own cognition.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scaling story is the CALM split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Consistency-as-logical-monotonicity decides what distributes for free — by theorem, not by tuning.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EFF8F2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48590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33502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Monotone core — coordination-free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4088" y="1901952"/>
            <a:ext cx="35295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Appends, judgment emission, positive recursion (descendants, lineage, derivations), counters, pooled embeddings: run on any number of nodes; views converge under any interleaving.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18872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DF1F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48590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33502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Non-monotone boundary — one writer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910328" y="1901952"/>
            <a:ext cx="35295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Negation, promotion, stance computation, invalidation, retraction: a single-threaded consolidator is the entire boundary — single-writer by construction, not by locking.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31546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5800" y="3337560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45186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30098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proportional to the change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04088" y="3867912"/>
            <a:ext cx="35295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maintenance keeps update cost at the blast radius, not the corpus: hierarchy upkeep is about O(log n) per leaf edit versus batch rebuilds that are linear in corpus size.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31546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92040" y="3337560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45186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30098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economics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910328" y="3867912"/>
            <a:ext cx="35295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Micro-judgments are prefill-dominant: with prefix caching on local 3090s the marginal label costs a handful of tokens — orders of magnitude below anchor-priced decisions, at deterministic temperature 0.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choices: one family, three roles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store, durable ledger, and temporal-legal modeling are different jobs — pick per role, bridge with fold.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554480"/>
                <a:gridCol w="1234440"/>
                <a:gridCol w="2377440"/>
                <a:gridCol w="16459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here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DataScript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Datomic Datalog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(in-mem)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run verbatim; reactive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projection (L2)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Datahike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Datomic Datalog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as-of /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drop-in durable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single-user durable option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Datomic Pro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original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since 2023, not 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dialect-strict server option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XTDB 2.x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/ XTQL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bitemporal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valid-time 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caveat: dialect moved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Fluree (Rust)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SPARQL / JSON-LD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commits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verifiable ledger · SHACL · branches · BM25+HNSW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durable L3 target (Athens split)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DataScript in-process for rules + Fluree as the signed system-of-record — per-judge keypairs make cohort retraction non-repudiable.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substrate is the differentiator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chosen because a generic RAG pipeline structurally cannot deliver the bolded property.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560320" cy="1572768"/>
          </a:xfrm>
          <a:prstGeom prst="roundRect">
            <a:avLst>
              <a:gd name="adj" fmla="val 4651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48590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33502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(RGPD and beyond)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4088" y="1901952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Audit-grade, cryptographically verifiable provenance per conclusion; cohort retraction when a source or model is impeached; time-travel to 'what we believed at decision date'.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1188720"/>
            <a:ext cx="2560320" cy="1572768"/>
          </a:xfrm>
          <a:prstGeom prst="roundRect">
            <a:avLst>
              <a:gd name="adj" fmla="val 4651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48590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133502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evidence synthesis (medicine)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493008" y="1901952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as stances over typed evidence; contradiction surfacing the day a study lands; guideline-drift detection as a standing query instead of a review cycle.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80760" y="1188720"/>
            <a:ext cx="2560320" cy="1572768"/>
          </a:xfrm>
          <a:prstGeom prst="roundRect">
            <a:avLst>
              <a:gd name="adj" fmla="val 4651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63640" y="1371600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48590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0" y="133502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and credit research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281928" y="1901952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Theses tracked against filings and calls with belief revision on every event; diff the stance across quarters; every number traceable to its document and extractor.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02920" y="2990088"/>
            <a:ext cx="2560320" cy="1572768"/>
          </a:xfrm>
          <a:prstGeom prst="roundRect">
            <a:avLst>
              <a:gd name="adj" fmla="val 4651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5800" y="3172968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287268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31363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Pharmacovigilance and safety signals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04088" y="370332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= threshold-crossing accumulation of typed case evidence — the native trigger pattern — with full lineage for the regulator.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91840" y="2990088"/>
            <a:ext cx="2560320" cy="1572768"/>
          </a:xfrm>
          <a:prstGeom prst="roundRect">
            <a:avLst>
              <a:gd name="adj" fmla="val 4651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474720" y="3172968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287268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69080" y="31363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knowledge and postmortems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3493008" y="370332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distill into rules: the cascade compiles expensive root-cause judgment into cheap standing checks, with the postmortem trail attached.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080760" y="2990088"/>
            <a:ext cx="2560320" cy="1572768"/>
          </a:xfrm>
          <a:prstGeom prst="roundRect">
            <a:avLst>
              <a:gd name="adj" fmla="val 4651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63640" y="3172968"/>
            <a:ext cx="457200" cy="457200"/>
          </a:xfrm>
          <a:prstGeom prst="ellipse">
            <a:avLst/>
          </a:prstGeom>
          <a:solidFill>
            <a:srgbClr val="3A4A9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940" y="3287268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58000" y="31363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literature monitoring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6281928" y="370332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Per-lab living maps: propositionized papers, claim scoreboards, emergent topic summaries that stay current and cite back to every source.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 — and the mitigation under each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that found these is part of the deliverables; none is hand-waved.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560320" cy="1572768"/>
          </a:xfrm>
          <a:prstGeom prst="roundRect">
            <a:avLst>
              <a:gd name="adj" fmla="val 4651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335024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decay yet — Mnemosyne without Lethe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4088" y="1755648"/>
            <a:ext cx="21579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Salience accumulates monotonically. Fix: ACT-R-style activation decay over an intact record — forgetting as fading attention, never deletion.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1572768"/>
          </a:xfrm>
          <a:prstGeom prst="roundRect">
            <a:avLst>
              <a:gd name="adj" fmla="val 4651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93008" y="1335024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temporality exceeds bitemporality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93008" y="1755648"/>
            <a:ext cx="21579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Norm-version time (text in force, retroactivity) must be modeled in data — ELI versioning — whatever the engine.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0760" y="1188720"/>
            <a:ext cx="2560320" cy="1572768"/>
          </a:xfrm>
          <a:prstGeom prst="roundRect">
            <a:avLst>
              <a:gd name="adj" fmla="val 4651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81928" y="1335024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LLM-mediated propagation has no fixpoint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81928" y="1755648"/>
            <a:ext cx="21579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Contained, not solved: judgments-as-facts restore idempotence; open rewriting stays quarantined at regime C behind budgets.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990088"/>
            <a:ext cx="2560320" cy="1572768"/>
          </a:xfrm>
          <a:prstGeom prst="roundRect">
            <a:avLst>
              <a:gd name="adj" fmla="val 4651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" y="313639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hubs distort diffusion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04088" y="3557016"/>
            <a:ext cx="21579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Oversmoothing and hub short-circuits are real; learned per-edge propagation gates (a judgment type) provide content-aware damping.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0" y="2990088"/>
            <a:ext cx="2560320" cy="1572768"/>
          </a:xfrm>
          <a:prstGeom prst="roundRect">
            <a:avLst>
              <a:gd name="adj" fmla="val 4651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93008" y="313639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objectives are thin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493008" y="3557016"/>
            <a:ext cx="21579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Fork-and-diff shows what changed, not what is better; promotion gates are statistical, but domain fitness functions remain to be defined per application.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2990088"/>
            <a:ext cx="2560320" cy="1572768"/>
          </a:xfrm>
          <a:prstGeom prst="roundRect">
            <a:avLst>
              <a:gd name="adj" fmla="val 4651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81928" y="313639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guarantees decay with drift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81928" y="3557016"/>
            <a:ext cx="21579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Exchangeability erodes on a growing graph: coverage is a dial with mandatory recalibration cadence and a drift alarm, not a theorem about deployment.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and 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Specs, substrate, contract, harness, calibration, ops, and distillation are built; next milestones are empirical.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746504" cy="2697480"/>
          </a:xfrm>
          <a:prstGeom prst="roundRect">
            <a:avLst>
              <a:gd name="adj" fmla="val 4188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444752"/>
            <a:ext cx="420624" cy="420624"/>
          </a:xfrm>
          <a:prstGeom prst="ellipse">
            <a:avLst/>
          </a:prstGeom>
          <a:solidFill>
            <a:srgbClr val="3A4A9F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7512" y="19568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7512" y="2523744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+ rules; judgment contract; harness with conformal gating; calibration tooling; ops service; distillation pipeline — self-tested where executable, hand-checked where not.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24003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7A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33472" y="1280160"/>
            <a:ext cx="1746504" cy="2697480"/>
          </a:xfrm>
          <a:prstGeom prst="roundRect">
            <a:avLst>
              <a:gd name="adj" fmla="val 4188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98064" y="1444752"/>
            <a:ext cx="420624" cy="420624"/>
          </a:xfrm>
          <a:prstGeom prst="ellipse">
            <a:avLst/>
          </a:prstGeom>
          <a:solidFill>
            <a:srgbClr val="3A4A9F"/>
          </a:solidFill>
          <a:ln/>
        </p:spPr>
      </p:sp>
      <p:sp>
        <p:nvSpPr>
          <p:cNvPr id="13" name="Text 11"/>
          <p:cNvSpPr/>
          <p:nvPr/>
        </p:nvSpPr>
        <p:spPr>
          <a:xfrm>
            <a:off x="2798064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798064" y="19568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first live judge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98064" y="2523744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the real graph; anchor-label edge-type with double-pass; human review; calibrate; watch the abstention rate — the number that validates the thresholds.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16552" y="24003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7A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64024" y="1280160"/>
            <a:ext cx="1746504" cy="2697480"/>
          </a:xfrm>
          <a:prstGeom prst="roundRect">
            <a:avLst>
              <a:gd name="adj" fmla="val 4188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28616" y="1444752"/>
            <a:ext cx="420624" cy="420624"/>
          </a:xfrm>
          <a:prstGeom prst="ellipse">
            <a:avLst/>
          </a:prstGeom>
          <a:solidFill>
            <a:srgbClr val="3A4A9F"/>
          </a:solidFill>
          <a:ln/>
        </p:spPr>
      </p:sp>
      <p:sp>
        <p:nvSpPr>
          <p:cNvPr id="19" name="Text 17"/>
          <p:cNvSpPr/>
          <p:nvPr/>
        </p:nvSpPr>
        <p:spPr>
          <a:xfrm>
            <a:off x="4928616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28616" y="19568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close the loops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28616" y="2523744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surprisal pre-filter; propositionizer for the faithfulness pipeline; first distillation pass at about a thousand admissible examples.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47104" y="24003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7A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894576" y="1280160"/>
            <a:ext cx="1746504" cy="2697480"/>
          </a:xfrm>
          <a:prstGeom prst="roundRect">
            <a:avLst>
              <a:gd name="adj" fmla="val 4188"/>
            </a:avLst>
          </a:prstGeom>
          <a:solidFill>
            <a:srgbClr val="F2F5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59168" y="1444752"/>
            <a:ext cx="420624" cy="420624"/>
          </a:xfrm>
          <a:prstGeom prst="ellipse">
            <a:avLst/>
          </a:prstGeom>
          <a:solidFill>
            <a:srgbClr val="3A4A9F"/>
          </a:solidFill>
          <a:ln/>
        </p:spPr>
      </p:sp>
      <p:sp>
        <p:nvSpPr>
          <p:cNvPr id="25" name="Text 23"/>
          <p:cNvSpPr/>
          <p:nvPr/>
        </p:nvSpPr>
        <p:spPr>
          <a:xfrm>
            <a:off x="7059168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059168" y="19568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verifiable ledger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059168" y="2523744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Fluree adapter — signed commits, SHACL linter port, branch-based shadow runs; the belief fixpoint live over promoted discourse edges.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TO KEEP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answers questions.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maintains positions.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RLM-style engine over an ActiveGraph-style log over a datom-family store, maintained by a conformally-gated swarm whose judgments are facts, whose mistakes are retractable by cohort, and whose cognition gets cheaper as it runs.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6405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Mnemosyne project · engineering overview ·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Mnemosyne — a self-improving knowledge substrate</dc:title>
  <dc:subject>PptxGenJS Presentation</dc:subject>
  <dc:creator>Mnemosyne project</dc:creator>
  <cp:lastModifiedBy>Mnemosyne project</cp:lastModifiedBy>
  <cp:revision>1</cp:revision>
  <dcterms:created xsi:type="dcterms:W3CDTF">2026-06-12T07:56:43Z</dcterms:created>
  <dcterms:modified xsi:type="dcterms:W3CDTF">2026-06-12T07:56:43Z</dcterms:modified>
</cp:coreProperties>
</file>